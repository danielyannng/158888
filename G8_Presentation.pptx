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6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04120" y="228600"/>
            <a:ext cx="14173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1">
                <a:solidFill>
                  <a:srgbClr val="55606E"/>
                </a:solidFill>
                <a:latin typeface="Arial"/>
              </a:defRPr>
            </a:pPr>
            <a:r>
              <a:t>OPENING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7772400" cy="73152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3100" b="1">
                <a:solidFill>
                  <a:srgbClr val="12304F"/>
                </a:solidFill>
                <a:latin typeface="Arial"/>
              </a:defRPr>
            </a:pPr>
            <a:r>
              <a:t>Geo-located NLP Feedback System</a:t>
            </a:r>
            <a:br/>
            <a:r>
              <a:t>for Public Transport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93392"/>
            <a:ext cx="7315200" cy="41148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600" b="0">
                <a:solidFill>
                  <a:srgbClr val="55606E"/>
                </a:solidFill>
                <a:latin typeface="Arial"/>
              </a:defRPr>
            </a:pPr>
            <a:r>
              <a:t>A 10-minute recorded technical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0392" y="2880360"/>
            <a:ext cx="3054096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6D597A"/>
                </a:solidFill>
                <a:latin typeface="Arial"/>
              </a:defRPr>
            </a:pPr>
            <a:r>
              <a:t>Yifan 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218688"/>
            <a:ext cx="3054096" cy="484631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rial"/>
              </a:defRPr>
            </a:pPr>
            <a:r>
              <a:t>Lead NLP Engineer</a:t>
            </a:r>
            <a:br/>
            <a:r>
              <a:t>Model training, classification, sentiment 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74320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9431" y="2880360"/>
            <a:ext cx="3054096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1B998B"/>
                </a:solidFill>
                <a:latin typeface="Arial"/>
              </a:defRPr>
            </a:pPr>
            <a:r>
              <a:t>Junzhen Wang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3218688"/>
            <a:ext cx="3054096" cy="484631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rial"/>
              </a:defRPr>
            </a:pPr>
            <a:r>
              <a:t>Geospatial Data Analyst</a:t>
            </a:r>
            <a:br/>
            <a:r>
              <a:t>Data cleaning, QGIS layers, clustering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2743200"/>
            <a:ext cx="33832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8471" y="2880360"/>
            <a:ext cx="3054096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2E86AB"/>
                </a:solidFill>
                <a:latin typeface="Arial"/>
              </a:defRPr>
            </a:pPr>
            <a:r>
              <a:t>Hanwen Yang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3218688"/>
            <a:ext cx="3054096" cy="484631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rial"/>
              </a:defRPr>
            </a:pPr>
            <a:r>
              <a:t>Full-stack &amp; Dashboard Developer</a:t>
            </a:r>
            <a:br/>
            <a:r>
              <a:t>Backend API, UI, map integration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54880"/>
            <a:ext cx="2011680" cy="1097280"/>
          </a:xfrm>
          <a:prstGeom prst="round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5528" y="4956048"/>
            <a:ext cx="1792224" cy="38404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NLP + GIS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5468112"/>
            <a:ext cx="1792224" cy="34747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integrated prototype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1800" y="4754880"/>
            <a:ext cx="2011680" cy="109728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081528" y="4956048"/>
            <a:ext cx="1792224" cy="38404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420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81528" y="5468112"/>
            <a:ext cx="1792224" cy="34747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demo feedback records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4754880"/>
            <a:ext cx="2011680" cy="109728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67528" y="4956048"/>
            <a:ext cx="1792224" cy="38404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5468112"/>
            <a:ext cx="1792224" cy="34747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DBSCAN clusters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4754880"/>
            <a:ext cx="2011680" cy="1097280"/>
          </a:xfrm>
          <a:prstGeom prst="round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53527" y="4956048"/>
            <a:ext cx="1792224" cy="38404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5 tabs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3527" y="5468112"/>
            <a:ext cx="1792224" cy="34747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interactive 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65392"/>
            <a:ext cx="521208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850" b="0">
                <a:solidFill>
                  <a:srgbClr val="55606E"/>
                </a:solidFill>
                <a:latin typeface="Arial"/>
              </a:defRPr>
            </a:pPr>
            <a:r>
              <a:t>Speaker: Hanwen  |  Target time: 0:45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65392"/>
            <a:ext cx="5029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0">
                <a:solidFill>
                  <a:srgbClr val="55606E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04120" y="228600"/>
            <a:ext cx="14173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1">
                <a:solidFill>
                  <a:srgbClr val="55606E"/>
                </a:solidFill>
                <a:latin typeface="Arial"/>
              </a:defRPr>
            </a:pPr>
            <a: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Arial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7498079" cy="50292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500" b="1">
                <a:solidFill>
                  <a:srgbClr val="12304F"/>
                </a:solidFill>
                <a:latin typeface="Arial"/>
              </a:defRPr>
            </a:pPr>
            <a:r>
              <a:t>The problem is not a lack of feedback; it is a lack of usable feedback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960120" cy="36576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4846320" cy="195951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  <a:latin typeface="Arial"/>
              </a:defRPr>
            </a:pPr>
            <a:r>
              <a:t>Passenger comments describe delays, crowding, cleanliness, accessibility, and safety.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  <a:latin typeface="Arial"/>
              </a:defRPr>
            </a:pPr>
            <a:r>
              <a:t>Most comments are unstructured text, so manual review does not scale.</a:t>
            </a:r>
          </a:p>
          <a:p>
            <a:pPr>
              <a:spcAft>
                <a:spcPts val="800"/>
              </a:spcAft>
              <a:defRPr sz="1800">
                <a:solidFill>
                  <a:srgbClr val="263238"/>
                </a:solidFill>
                <a:latin typeface="Arial"/>
              </a:defRPr>
            </a:pPr>
            <a:r>
              <a:t>Transport planning also needs location: where do these issues happen?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08760"/>
            <a:ext cx="4846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65392" y="1645919"/>
            <a:ext cx="4517136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4C956C"/>
                </a:solidFill>
                <a:latin typeface="Arial"/>
              </a:defRPr>
            </a:pPr>
            <a:r>
              <a:t>Worthwhile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1984248"/>
            <a:ext cx="4517136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rial"/>
              </a:defRPr>
            </a:pPr>
            <a:r>
              <a:rPr dirty="0"/>
              <a:t>It turns public feedback into evidence that can support service evaluation.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788920"/>
            <a:ext cx="4846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65392" y="2926079"/>
            <a:ext cx="4517136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E07A5F"/>
                </a:solidFill>
                <a:latin typeface="Arial"/>
              </a:defRPr>
            </a:pPr>
            <a:r>
              <a:t>Hard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3264408"/>
            <a:ext cx="4517136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rial"/>
              </a:defRPr>
            </a:pPr>
            <a:r>
              <a:rPr dirty="0"/>
              <a:t>The project has to connect text meaning, station matching, GIS layers, and spatial statistics.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69080"/>
            <a:ext cx="484632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65392" y="4206240"/>
            <a:ext cx="4517136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C8553D"/>
                </a:solidFill>
                <a:latin typeface="Arial"/>
              </a:defRPr>
            </a:pPr>
            <a:r>
              <a:t>Successful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4544568"/>
            <a:ext cx="4517136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rial"/>
              </a:defRPr>
            </a:pPr>
            <a:r>
              <a:rPr dirty="0"/>
              <a:t>The final prototype links NLP outputs to maps, heatmaps, clusters, and district summaries.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65392"/>
            <a:ext cx="521208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850" b="0">
                <a:solidFill>
                  <a:srgbClr val="55606E"/>
                </a:solidFill>
                <a:latin typeface="Arial"/>
              </a:defRPr>
            </a:pPr>
            <a:r>
              <a:t>Speaker: Hanwen  |  Target time: 1:00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565392"/>
            <a:ext cx="5029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0">
                <a:solidFill>
                  <a:srgbClr val="55606E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04120" y="228600"/>
            <a:ext cx="14173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1">
                <a:solidFill>
                  <a:srgbClr val="55606E"/>
                </a:solidFill>
                <a:latin typeface="Arial"/>
              </a:defRPr>
            </a:pPr>
            <a:r>
              <a:t>SYSTEM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Arial"/>
              </a:defRPr>
            </a:pPr>
            <a: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7498079" cy="50292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500" b="1">
                <a:solidFill>
                  <a:srgbClr val="12304F"/>
                </a:solidFill>
                <a:latin typeface="Arial"/>
              </a:defRPr>
            </a:pPr>
            <a:r>
              <a:t>Our solution connects feedback text to geographic insight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960120" cy="36576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1_overall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325880"/>
            <a:ext cx="8561069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565392"/>
            <a:ext cx="521208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850" b="0">
                <a:solidFill>
                  <a:srgbClr val="55606E"/>
                </a:solidFill>
                <a:latin typeface="Arial"/>
              </a:defRPr>
            </a:pPr>
            <a:r>
              <a:t>Speaker: Hanwen  |  Target time: 1:00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65392"/>
            <a:ext cx="5029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0">
                <a:solidFill>
                  <a:srgbClr val="55606E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04120" y="228600"/>
            <a:ext cx="14173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1">
                <a:solidFill>
                  <a:srgbClr val="55606E"/>
                </a:solidFill>
                <a:latin typeface="Arial"/>
              </a:defRPr>
            </a:pPr>
            <a:r>
              <a:t>YIFAN -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Arial"/>
              </a:defRPr>
            </a:pPr>
            <a:r>
              <a:t>NLP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7498079" cy="50292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500" b="1">
                <a:solidFill>
                  <a:srgbClr val="12304F"/>
                </a:solidFill>
                <a:latin typeface="Arial"/>
              </a:defRPr>
            </a:pPr>
            <a:r>
              <a:t>Yifan's role: convert passenger comments into structured NLP outputs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960120" cy="36576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3_nlp_processin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225" y="1325880"/>
            <a:ext cx="8561069" cy="4892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565392"/>
            <a:ext cx="521208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850" b="0">
                <a:solidFill>
                  <a:srgbClr val="55606E"/>
                </a:solidFill>
                <a:latin typeface="Arial"/>
              </a:defRPr>
            </a:pPr>
            <a:r>
              <a:t>Speaker: Yifan  |  Target time: 1:10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9960" y="6565392"/>
            <a:ext cx="5029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0">
                <a:solidFill>
                  <a:srgbClr val="55606E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6D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04120" y="228600"/>
            <a:ext cx="14173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1">
                <a:solidFill>
                  <a:srgbClr val="55606E"/>
                </a:solidFill>
                <a:latin typeface="Arial"/>
              </a:defRPr>
            </a:pPr>
            <a:r>
              <a:t>YIFAN -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Arial"/>
              </a:defRPr>
            </a:pPr>
            <a:r>
              <a:t>NLP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7498079" cy="50292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500" b="1">
                <a:solidFill>
                  <a:srgbClr val="12304F"/>
                </a:solidFill>
                <a:latin typeface="Arial"/>
              </a:defRPr>
            </a:pPr>
            <a:r>
              <a:t>The model works as a baseline, but OOD testing shows the limitation clearly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960120" cy="36576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5_model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27562"/>
            <a:ext cx="5394960" cy="3082834"/>
          </a:xfrm>
          <a:prstGeom prst="rect">
            <a:avLst/>
          </a:prstGeom>
        </p:spPr>
      </p:pic>
      <p:pic>
        <p:nvPicPr>
          <p:cNvPr id="8" name="Picture 7" descr="09_ood_category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65885"/>
            <a:ext cx="5074920" cy="38061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486400"/>
            <a:ext cx="10424160" cy="59436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3238"/>
                </a:solidFill>
                <a:latin typeface="Arial"/>
              </a:defRPr>
            </a:pPr>
            <a:r>
              <a:t>Best OOD category macro-F1: 0.5929; best OOD sentiment macro-F1: 0.4513. The system is suitable as a prototype baseline, not an operational classifier.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521208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850" b="0">
                <a:solidFill>
                  <a:srgbClr val="55606E"/>
                </a:solidFill>
                <a:latin typeface="Arial"/>
              </a:defRPr>
            </a:pPr>
            <a:r>
              <a:t>Speaker: Yifan  |  Target time: 1:00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65392"/>
            <a:ext cx="5029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0">
                <a:solidFill>
                  <a:srgbClr val="55606E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04120" y="228600"/>
            <a:ext cx="14173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1">
                <a:solidFill>
                  <a:srgbClr val="55606E"/>
                </a:solidFill>
                <a:latin typeface="Arial"/>
              </a:defRPr>
            </a:pPr>
            <a:r>
              <a:t>JUNZHEN - GIS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Arial"/>
              </a:defRPr>
            </a:pPr>
            <a:r>
              <a:t>GIS AND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7498079" cy="50292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500" b="1">
                <a:solidFill>
                  <a:srgbClr val="12304F"/>
                </a:solidFill>
                <a:latin typeface="Arial"/>
              </a:defRPr>
            </a:pPr>
            <a:r>
              <a:t>Junzhen's role: prepare the transport geography that makes feedback mappable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960120" cy="36576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02_data_preparation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1707968"/>
            <a:ext cx="5623560" cy="3213462"/>
          </a:xfrm>
          <a:prstGeom prst="rect">
            <a:avLst/>
          </a:prstGeom>
        </p:spPr>
      </p:pic>
      <p:pic>
        <p:nvPicPr>
          <p:cNvPr id="8" name="Picture 7" descr="07_shanghai_transport_spatial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115" y="1325880"/>
            <a:ext cx="4500569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5532120"/>
            <a:ext cx="10241280" cy="64008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263238"/>
                </a:solidFill>
                <a:latin typeface="Arial"/>
              </a:defRPr>
            </a:pPr>
            <a:r>
              <a:t>QGIS layers include district boundaries, subway lines, subway stops, and bus stops; backend services convert them into map-ready GeoJSON.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65392"/>
            <a:ext cx="521208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850" b="0">
                <a:solidFill>
                  <a:srgbClr val="55606E"/>
                </a:solidFill>
                <a:latin typeface="Arial"/>
              </a:defRPr>
            </a:pPr>
            <a:r>
              <a:t>Speaker: Junzhen  |  Target time: 1:10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09960" y="6565392"/>
            <a:ext cx="5029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0">
                <a:solidFill>
                  <a:srgbClr val="55606E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04120" y="228600"/>
            <a:ext cx="14173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1">
                <a:solidFill>
                  <a:srgbClr val="55606E"/>
                </a:solidFill>
                <a:latin typeface="Arial"/>
              </a:defRPr>
            </a:pPr>
            <a:r>
              <a:t>JUNZHEN - SPATIAL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Arial"/>
              </a:defRPr>
            </a:pPr>
            <a:r>
              <a:t>SPATIAL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7498079" cy="50292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500" b="1">
                <a:solidFill>
                  <a:srgbClr val="12304F"/>
                </a:solidFill>
                <a:latin typeface="Arial"/>
              </a:defRPr>
            </a:pPr>
            <a:r>
              <a:t>Spatial analysis validates the feedback-to-map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960120" cy="36576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11_spatial_cluster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24742"/>
            <a:ext cx="5806440" cy="2488474"/>
          </a:xfrm>
          <a:prstGeom prst="rect">
            <a:avLst/>
          </a:prstGeom>
        </p:spPr>
      </p:pic>
      <p:pic>
        <p:nvPicPr>
          <p:cNvPr id="8" name="Picture 7" descr="06_district_negative_feedback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936568"/>
            <a:ext cx="4663440" cy="266482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7240" y="5486400"/>
            <a:ext cx="1600200" cy="731520"/>
          </a:xfrm>
          <a:prstGeom prst="round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6968" y="5687568"/>
            <a:ext cx="1380744" cy="38404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6199632"/>
            <a:ext cx="1380744" cy="34747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DBSCAN clusters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5486400"/>
            <a:ext cx="1600200" cy="731520"/>
          </a:xfrm>
          <a:prstGeom prst="round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15768" y="5687568"/>
            <a:ext cx="1380744" cy="38404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-0.103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5768" y="6199632"/>
            <a:ext cx="1380744" cy="34747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Moran's 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5486400"/>
            <a:ext cx="1600200" cy="731520"/>
          </a:xfrm>
          <a:prstGeom prst="round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44568" y="5687568"/>
            <a:ext cx="1380744" cy="384048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rial"/>
              </a:defRPr>
            </a:pPr>
            <a:r>
              <a:t>0.8414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6199632"/>
            <a:ext cx="1380744" cy="34747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Arial"/>
              </a:defRPr>
            </a:pPr>
            <a:r>
              <a:t>Moran p-value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5486400"/>
            <a:ext cx="4526280" cy="73152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3238"/>
                </a:solidFill>
                <a:latin typeface="Arial"/>
              </a:defRPr>
            </a:pPr>
            <a:r>
              <a:t>Because the dataset is synthetic/demo data, results are interpreted as method validation rather than real Shanghai service evidence.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65392"/>
            <a:ext cx="521208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850" b="0">
                <a:solidFill>
                  <a:srgbClr val="55606E"/>
                </a:solidFill>
                <a:latin typeface="Arial"/>
              </a:defRPr>
            </a:pPr>
            <a:r>
              <a:t>Speaker: Junzhen  |  Target time: 1:10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65392"/>
            <a:ext cx="5029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0">
                <a:solidFill>
                  <a:srgbClr val="55606E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04120" y="228600"/>
            <a:ext cx="14173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1">
                <a:solidFill>
                  <a:srgbClr val="55606E"/>
                </a:solidFill>
                <a:latin typeface="Arial"/>
              </a:defRPr>
            </a:pPr>
            <a:r>
              <a:t>HANWEN -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Arial"/>
              </a:defRPr>
            </a:pPr>
            <a:r>
              <a:t>SYSTEM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7498079" cy="50292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500" b="1">
                <a:solidFill>
                  <a:srgbClr val="12304F"/>
                </a:solidFill>
                <a:latin typeface="Arial"/>
              </a:defRPr>
            </a:pPr>
            <a:r>
              <a:t>Hanwen's role: integrate the model, GIS services, database, and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960120" cy="36576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709160" cy="3520440"/>
          </a:xfrm>
          <a:prstGeom prst="rect">
            <a:avLst/>
          </a:prstGeom>
          <a:noFill/>
        </p:spPr>
        <p:txBody>
          <a:bodyPr wrap="none" lIns="45720" r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Arial"/>
              </a:defRPr>
            </a:pPr>
            <a:r>
              <a:t>FastAPI backend receives feedback and returns NLP analysis.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Arial"/>
              </a:defRPr>
            </a:pPr>
            <a:r>
              <a:t>SQLite stores text, station, category, sentiment, confidence, and keywords.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Arial"/>
              </a:defRPr>
            </a:pPr>
            <a:r>
              <a:t>GIS endpoints serve district boundaries, bus stops, subway stops, and subway lines.</a:t>
            </a:r>
          </a:p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Arial"/>
              </a:defRPr>
            </a:pPr>
            <a:r>
              <a:t>Streamlit dashboard presents maps, filters, charts, hotspots, spatial insights, and evaluation evidence.</a:t>
            </a:r>
          </a:p>
        </p:txBody>
      </p:sp>
      <p:pic>
        <p:nvPicPr>
          <p:cNvPr id="8" name="Picture 7" descr="04_geolocation_spatial_analysis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2018211"/>
            <a:ext cx="5577840" cy="31873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" y="6565392"/>
            <a:ext cx="521208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850" b="0">
                <a:solidFill>
                  <a:srgbClr val="55606E"/>
                </a:solidFill>
                <a:latin typeface="Arial"/>
              </a:defRPr>
            </a:pPr>
            <a:r>
              <a:t>Speaker: Hanwen  |  Target time: 1:15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565392"/>
            <a:ext cx="5029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0">
                <a:solidFill>
                  <a:srgbClr val="55606E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8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04120" y="228600"/>
            <a:ext cx="14173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1">
                <a:solidFill>
                  <a:srgbClr val="55606E"/>
                </a:solidFill>
                <a:latin typeface="Arial"/>
              </a:defRPr>
            </a:pPr>
            <a:r>
              <a:t>RECORDED DEMO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Arial"/>
              </a:defRPr>
            </a:pPr>
            <a:r>
              <a:t>HOW TO PRESENT THE PROTOTYPE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7498079" cy="50292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500" b="1">
                <a:solidFill>
                  <a:srgbClr val="12304F"/>
                </a:solidFill>
                <a:latin typeface="Arial"/>
              </a:defRPr>
            </a:pPr>
            <a:r>
              <a:t>The recorded demo should show the complete integration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960120" cy="36576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1554480"/>
            <a:ext cx="3054096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2E86AB"/>
                </a:solidFill>
                <a:latin typeface="Arial"/>
              </a:defRPr>
            </a:pPr>
            <a:r>
              <a:t>1. Submit feedback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1892808"/>
            <a:ext cx="3054096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rial"/>
              </a:defRPr>
            </a:pPr>
            <a:r>
              <a:rPr dirty="0"/>
              <a:t>Example: a passenger complains that People's Square station is seriously delayed.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53712" y="1554480"/>
            <a:ext cx="3054096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6D597A"/>
                </a:solidFill>
                <a:latin typeface="Arial"/>
              </a:defRPr>
            </a:pPr>
            <a:r>
              <a:t>2. Read NLP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92808"/>
            <a:ext cx="3054096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rial"/>
              </a:defRPr>
            </a:pPr>
            <a:r>
              <a:rPr dirty="0"/>
              <a:t>Show station, issue category, sentiment, confidence score, and matched keywords.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3832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11312" y="1554480"/>
            <a:ext cx="3054096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1B998B"/>
                </a:solidFill>
                <a:latin typeface="Arial"/>
              </a:defRPr>
            </a:pPr>
            <a:r>
              <a:t>3. Refresh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1312" y="1892808"/>
            <a:ext cx="3054096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rial"/>
              </a:defRPr>
            </a:pPr>
            <a:r>
              <a:rPr dirty="0"/>
              <a:t>Explain how saved records update aggregation, heatmaps, and district results.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34440" y="3154680"/>
            <a:ext cx="4297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99032" y="3291840"/>
            <a:ext cx="3968496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4C956C"/>
                </a:solidFill>
                <a:latin typeface="Arial"/>
              </a:defRPr>
            </a:pPr>
            <a:r>
              <a:t>What the audience should 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99032" y="3630168"/>
            <a:ext cx="3968496" cy="42473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rial"/>
              </a:defRPr>
            </a:pPr>
            <a:r>
              <a:rPr dirty="0"/>
              <a:t>The project is not only a classifier and not only a map. Its value is the connection between both.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29400" y="3154680"/>
            <a:ext cx="4297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93992" y="3291840"/>
            <a:ext cx="3968496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E07A5F"/>
                </a:solidFill>
                <a:latin typeface="Arial"/>
              </a:defRPr>
            </a:pPr>
            <a:r>
              <a:t>What not to overclaim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93992" y="3630168"/>
            <a:ext cx="3998976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rial"/>
              </a:defRPr>
            </a:pPr>
            <a:r>
              <a:rPr dirty="0"/>
              <a:t>The current dataset is synthetic/demo data, so spatial results demonstrate capability rather than real transport conclusions.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074920"/>
            <a:ext cx="992124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63238"/>
                </a:solidFill>
                <a:latin typeface="Arial"/>
              </a:defRPr>
            </a:pPr>
            <a:r>
              <a:t>Transition line: Yifan's NLP outputs become Junzhen's spatial inputs, and Hanwen's backend/dashboard makes the whole workflow usable.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65392"/>
            <a:ext cx="521208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850" b="0">
                <a:solidFill>
                  <a:srgbClr val="55606E"/>
                </a:solidFill>
                <a:latin typeface="Arial"/>
              </a:defRPr>
            </a:pPr>
            <a:r>
              <a:t>Speaker: All / Hanwen lead  |  Target time: 0:55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65392"/>
            <a:ext cx="5029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0">
                <a:solidFill>
                  <a:srgbClr val="55606E"/>
                </a:solidFill>
                <a:latin typeface="Arial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104120" y="228600"/>
            <a:ext cx="14173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1">
                <a:solidFill>
                  <a:srgbClr val="55606E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640080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900" b="1">
                <a:solidFill>
                  <a:srgbClr val="2E86AB"/>
                </a:solidFill>
                <a:latin typeface="Arial"/>
              </a:defRPr>
            </a:pPr>
            <a: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30352"/>
            <a:ext cx="7498079" cy="50292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2500" b="1">
                <a:solidFill>
                  <a:srgbClr val="12304F"/>
                </a:solidFill>
                <a:latin typeface="Arial"/>
              </a:defRPr>
            </a:pPr>
            <a:r>
              <a:t>Conclusion: the project proves an integrated NLP-GIS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115568"/>
            <a:ext cx="960120" cy="36576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554480"/>
            <a:ext cx="2825496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2E86AB"/>
                </a:solidFill>
                <a:latin typeface="Arial"/>
              </a:defRPr>
            </a:pPr>
            <a:r>
              <a:t>Main achievement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1892808"/>
            <a:ext cx="2825496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rial"/>
              </a:defRPr>
            </a:pPr>
            <a:r>
              <a:t>A working research prototype links unstructured feedback to structured NLP outputs and map-based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173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1554480"/>
            <a:ext cx="2825496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E07A5F"/>
                </a:solidFill>
                <a:latin typeface="Arial"/>
              </a:defRPr>
            </a:pPr>
            <a:r>
              <a:t>Main limitation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0872" y="1892808"/>
            <a:ext cx="2825496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rial"/>
              </a:defRPr>
            </a:pPr>
            <a:r>
              <a:t>Synthetic/demo data limits real-world claims; OOD NLP performance is modest.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15468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39912" y="1554480"/>
            <a:ext cx="2825496" cy="256032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1300" b="1">
                <a:solidFill>
                  <a:srgbClr val="4C956C"/>
                </a:solidFill>
                <a:latin typeface="Arial"/>
              </a:defRPr>
            </a:pPr>
            <a:r>
              <a:t>Future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1892808"/>
            <a:ext cx="2810256" cy="609398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defRPr sz="1200" b="0">
                <a:solidFill>
                  <a:srgbClr val="263238"/>
                </a:solidFill>
                <a:latin typeface="Arial"/>
              </a:defRPr>
            </a:pPr>
            <a:r>
              <a:t>Use real feedback streams, stronger models, larger GIS coverage, and deployment-ready engineering.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749" y="3429000"/>
            <a:ext cx="10044211" cy="1209562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ctr">
              <a:defRPr sz="2500" b="1">
                <a:solidFill>
                  <a:srgbClr val="12304F"/>
                </a:solidFill>
                <a:latin typeface="Arial"/>
              </a:defRPr>
            </a:pPr>
            <a:r>
              <a:rPr dirty="0"/>
              <a:t>Together, our three roles formed one pipeline: NLP explains what passengers say, GIS explains where issues occur, and the dashboard makes the results explorable.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5074920"/>
            <a:ext cx="2423160" cy="41148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ctr">
              <a:defRPr sz="2400" b="1">
                <a:solidFill>
                  <a:srgbClr val="C8553D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65392"/>
            <a:ext cx="521208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>
              <a:defRPr sz="850" b="0">
                <a:solidFill>
                  <a:srgbClr val="55606E"/>
                </a:solidFill>
                <a:latin typeface="Arial"/>
              </a:defRPr>
            </a:pPr>
            <a:r>
              <a:t>Speaker: Hanwen / All  |  Target time: 0:45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65392"/>
            <a:ext cx="502920" cy="228600"/>
          </a:xfrm>
          <a:prstGeom prst="rect">
            <a:avLst/>
          </a:prstGeom>
          <a:noFill/>
        </p:spPr>
        <p:txBody>
          <a:bodyPr wrap="none" lIns="45720" tIns="27432" rIns="45720" bIns="27432">
            <a:spAutoFit/>
          </a:bodyPr>
          <a:lstStyle/>
          <a:p>
            <a:pPr algn="r">
              <a:defRPr sz="850" b="0">
                <a:solidFill>
                  <a:srgbClr val="55606E"/>
                </a:solidFill>
                <a:latin typeface="Arial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748</Words>
  <Application>Microsoft Macintosh PowerPoint</Application>
  <PresentationFormat>宽屏</PresentationFormat>
  <Paragraphs>105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Yang</cp:lastModifiedBy>
  <cp:revision>3</cp:revision>
  <dcterms:created xsi:type="dcterms:W3CDTF">2013-01-27T09:14:16Z</dcterms:created>
  <dcterms:modified xsi:type="dcterms:W3CDTF">2026-06-05T01:01:24Z</dcterms:modified>
  <cp:category/>
</cp:coreProperties>
</file>